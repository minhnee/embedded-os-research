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588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1540" y="891540"/>
            <a:ext cx="1051560" cy="10515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914" y="1143914"/>
            <a:ext cx="546811" cy="5468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LINUX · TI SITARA AM3358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BeagleBone Black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Flow &amp; Build Flow trong Embedded Linux với Yocto Project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22960" y="5349240"/>
            <a:ext cx="2473452" cy="420624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5349240"/>
            <a:ext cx="24734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Cortex-A8 · 1 GHz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97580" y="5349240"/>
            <a:ext cx="1993392" cy="420624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97580" y="5349240"/>
            <a:ext cx="1993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DDR3L RAM 512 MB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92140" y="5349240"/>
            <a:ext cx="1801368" cy="420624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692140" y="5349240"/>
            <a:ext cx="1801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eMMC + microSD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694676" y="5349240"/>
            <a:ext cx="1897380" cy="420624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94676" y="5349240"/>
            <a:ext cx="18973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 / P9 Headers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2960" y="62636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BeagleBone Black Rev C  ·  Chuỗi khởi động ROM → Ứng dụng  ·  So sánh hệ build: Manual / Buildroot / Yocto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phần chính của buổi trình bày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225296"/>
          </a:xfrm>
          <a:prstGeom prst="roundRect">
            <a:avLst>
              <a:gd name="adj" fmla="val 5970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832104" y="202082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832104" y="20208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196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quan phần cứng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1762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BeagleBone Black Rev 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72968"/>
            <a:ext cx="5257800" cy="1225296"/>
          </a:xfrm>
          <a:prstGeom prst="roundRect">
            <a:avLst>
              <a:gd name="adj" fmla="val 5970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832104" y="35021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832104" y="3502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3009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Boot Chain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657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ROM Code đến ứng dụng người dùng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54296"/>
            <a:ext cx="5257800" cy="1225296"/>
          </a:xfrm>
          <a:prstGeom prst="roundRect">
            <a:avLst>
              <a:gd name="adj" fmla="val 5970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832104" y="4983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832104" y="4983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7823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Ý nghĩa từng thành phần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51389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Bootloader &amp; Runtime trong chuỗi boot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1691640"/>
            <a:ext cx="5257800" cy="1225296"/>
          </a:xfrm>
          <a:prstGeom prst="roundRect">
            <a:avLst>
              <a:gd name="adj" fmla="val 5970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6547104" y="202082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6547104" y="20208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18196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Tree &amp; Yocto BSP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21762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DTB và machine beaglebone-yocto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3172968"/>
            <a:ext cx="5257800" cy="1225296"/>
          </a:xfrm>
          <a:prstGeom prst="roundRect">
            <a:avLst>
              <a:gd name="adj" fmla="val 5970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6547104" y="35021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6547104" y="3502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33009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Flow vs Boot Flow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23760" y="3657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biệt hai luồng: PC và kit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257800" cy="1225296"/>
          </a:xfrm>
          <a:prstGeom prst="roundRect">
            <a:avLst>
              <a:gd name="adj" fmla="val 5970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6547104" y="4983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6547104" y="4983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23760" y="47823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Lựa chọn hệ build &amp; Kết luận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3760" y="51389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Buildroot / Yocto Project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BeagleBone Black — Boot &amp; Build Flow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PHẦN CỨNG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BeagleBone Black Rev C sử dụng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  <a:effectLst>
            <a:outerShdw blurRad="76200" dist="25400" dir="27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33956" y="1929384"/>
            <a:ext cx="749808" cy="7498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914" y="2094342"/>
            <a:ext cx="419892" cy="4198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xử lý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Sitara AM3358, ARM Cortex-A8, xung nhịp 1 GHz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  <a:effectLst>
            <a:outerShdw blurRad="76200" dist="25400" dir="27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28716" y="1929384"/>
            <a:ext cx="749808" cy="7498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s/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674" y="2094342"/>
            <a:ext cx="419892" cy="4198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7889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nhớ RAM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0" y="3108960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DDR3L 512 MB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  <a:effectLst>
            <a:outerShdw blurRad="76200" dist="25400" dir="27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523476" y="1929384"/>
            <a:ext cx="749808" cy="7498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434" y="2094342"/>
            <a:ext cx="419892" cy="4198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7889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nhớ trong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66760" y="3108960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eMMC on-board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  <a:effectLst>
            <a:outerShdw blurRad="76200" dist="25400" dir="27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933956" y="4169664"/>
            <a:ext cx="749808" cy="7498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icons/sd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8914" y="4334622"/>
            <a:ext cx="419892" cy="4198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50292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Lưu trữ ngoài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5349240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Khe cắm microSD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  <a:effectLst>
            <a:outerShdw blurRad="76200" dist="25400" dir="27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5728716" y="4169664"/>
            <a:ext cx="749808" cy="7498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icons/ethern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3674" y="4334622"/>
            <a:ext cx="419892" cy="4198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50292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nối / I-O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72000" y="5349240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debug, Ethernet, USB, HDMI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977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  <a:effectLst>
            <a:outerShdw blurRad="76200" dist="25400" dir="27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9523476" y="4169664"/>
            <a:ext cx="749808" cy="7498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/home/claude/icons/pin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8434" y="4334622"/>
            <a:ext cx="419892" cy="4198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50292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Mở rộng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66760" y="5349240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hàng chân mở rộng P8 / P9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263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BeagleBoard Documentation — beaglebone/black hardware reference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BeagleBone Black — Boot &amp; Build Flow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FULL 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Chuỗi khởi động đầy đủ — từ ROM đến ứng dụng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46120" y="1554480"/>
            <a:ext cx="5669280" cy="512064"/>
          </a:xfrm>
          <a:prstGeom prst="roundRect">
            <a:avLst>
              <a:gd name="adj" fmla="val 14286"/>
            </a:avLst>
          </a:prstGeom>
          <a:solidFill>
            <a:srgbClr val="141B49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29000" y="1609344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491" y="1693835"/>
            <a:ext cx="233355" cy="2333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0" y="159562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AM3358 ROM Code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931920" y="1847088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trình bất biến trong chip, chạy đầu tiên khi cấp nguồn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 rot="10800000">
            <a:off x="5998464" y="2084832"/>
            <a:ext cx="164592" cy="91440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46120" y="2180844"/>
            <a:ext cx="5669280" cy="512064"/>
          </a:xfrm>
          <a:prstGeom prst="roundRect">
            <a:avLst>
              <a:gd name="adj" fmla="val 14286"/>
            </a:avLst>
          </a:prstGeom>
          <a:solidFill>
            <a:srgbClr val="141B49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29000" y="2235708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icons/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491" y="2320199"/>
            <a:ext cx="233355" cy="2333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222199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 / U-Boot SPL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931920" y="2473452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tối thiểu clock &amp; RAM DDR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 rot="10800000">
            <a:off x="5998464" y="2711196"/>
            <a:ext cx="164592" cy="91440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46120" y="2807208"/>
            <a:ext cx="5669280" cy="512064"/>
          </a:xfrm>
          <a:prstGeom prst="roundRect">
            <a:avLst>
              <a:gd name="adj" fmla="val 14286"/>
            </a:avLst>
          </a:prstGeom>
          <a:solidFill>
            <a:srgbClr val="141B49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429000" y="286207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icons/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3491" y="2946563"/>
            <a:ext cx="233355" cy="23335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31920" y="2848356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U-Boot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3931920" y="3099816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Bootloader chính — nạp Kernel &amp; Device Tree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 rot="10800000">
            <a:off x="5998464" y="3337560"/>
            <a:ext cx="164592" cy="91440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3246120" y="3433572"/>
            <a:ext cx="5669280" cy="512064"/>
          </a:xfrm>
          <a:prstGeom prst="roundRect">
            <a:avLst>
              <a:gd name="adj" fmla="val 14286"/>
            </a:avLst>
          </a:prstGeom>
          <a:solidFill>
            <a:srgbClr val="141B49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3429000" y="3488436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/home/claude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3491" y="3572927"/>
            <a:ext cx="233355" cy="23335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931920" y="347472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Kernel + Device Tree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3931920" y="3726180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&amp; khởi tạo phần cứng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 rot="10800000">
            <a:off x="5998464" y="3963924"/>
            <a:ext cx="164592" cy="91440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3246120" y="4059936"/>
            <a:ext cx="5669280" cy="512064"/>
          </a:xfrm>
          <a:prstGeom prst="roundRect">
            <a:avLst>
              <a:gd name="adj" fmla="val 14286"/>
            </a:avLst>
          </a:prstGeom>
          <a:solidFill>
            <a:srgbClr val="141B49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3429000" y="411480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/home/claude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3491" y="4199291"/>
            <a:ext cx="233355" cy="23335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931920" y="410108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Filesystem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3931920" y="4352544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viện, shell, cấu hình, dịch vụ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 rot="10800000">
            <a:off x="5998464" y="4590288"/>
            <a:ext cx="164592" cy="91440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3246120" y="4686300"/>
            <a:ext cx="5669280" cy="512064"/>
          </a:xfrm>
          <a:prstGeom prst="roundRect">
            <a:avLst>
              <a:gd name="adj" fmla="val 14286"/>
            </a:avLst>
          </a:prstGeom>
          <a:solidFill>
            <a:srgbClr val="141B49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3429000" y="4741164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/home/claude/icons/ge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3491" y="4825655"/>
            <a:ext cx="233355" cy="23335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931920" y="472744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 / systemd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3931920" y="4978908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chạy các tiến trình &amp; dịch vụ hệ thống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 rot="10800000">
            <a:off x="5998464" y="5216652"/>
            <a:ext cx="164592" cy="91440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2"/>
          <p:cNvSpPr/>
          <p:nvPr/>
        </p:nvSpPr>
        <p:spPr>
          <a:xfrm>
            <a:off x="3246120" y="5312664"/>
            <a:ext cx="5669280" cy="512064"/>
          </a:xfrm>
          <a:prstGeom prst="roundRect">
            <a:avLst>
              <a:gd name="adj" fmla="val 14286"/>
            </a:avLst>
          </a:prstGeom>
          <a:solidFill>
            <a:srgbClr val="E8871E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3429000" y="536752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6" descr="/home/claude/icons/bo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3491" y="5452019"/>
            <a:ext cx="233355" cy="233355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3931920" y="535381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Ứng dụng người dùng</a:t>
            </a:r>
            <a:endParaRPr lang="en-US" sz="1350" dirty="0"/>
          </a:p>
        </p:txBody>
      </p:sp>
      <p:sp>
        <p:nvSpPr>
          <p:cNvPr id="44" name="Text 35"/>
          <p:cNvSpPr/>
          <p:nvPr/>
        </p:nvSpPr>
        <p:spPr>
          <a:xfrm>
            <a:off x="3931920" y="5605272"/>
            <a:ext cx="4800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trình chạy trên nền hệ điều hành</a:t>
            </a:r>
            <a:endParaRPr lang="en-US" sz="950" dirty="0"/>
          </a:p>
        </p:txBody>
      </p:sp>
      <p:sp>
        <p:nvSpPr>
          <p:cNvPr id="45" name="Text 3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BeagleBone Black — Boot &amp; Build Flow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FULL 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BeagleBone Black chọn nguồn boot như thế nào?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265176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0" y="198882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370" y="220599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Mặc định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05840" y="356616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ưu tiên từ eMMC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257800" cy="2651760"/>
          </a:xfrm>
          <a:prstGeom prst="roundRect">
            <a:avLst>
              <a:gd name="adj" fmla="val 3448"/>
            </a:avLst>
          </a:prstGeom>
          <a:solidFill>
            <a:srgbClr val="E8871E"/>
          </a:solidFill>
          <a:ln/>
          <a:effectLst>
            <a:outerShdw blurRad="76200" dist="25400" dir="27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366760" y="19888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s/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930" y="220599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30632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nút BOOT / S2 khi cấp nguồn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629400" y="356616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E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tự boot thay đổi → board boot từ microSD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709160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E9F0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68680" y="4709160"/>
            <a:ext cx="9326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</a:t>
            </a:r>
            <a:r>
              <a:rPr lang="en-US" sz="13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quyền điều khiển cho </a:t>
            </a: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/ MLO</a:t>
            </a:r>
            <a:r>
              <a:rPr lang="en-US" sz="13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sau đó </a:t>
            </a: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</a:t>
            </a:r>
            <a:r>
              <a:rPr lang="en-US" sz="13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tiếp tục tải </a:t>
            </a: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</a:t>
            </a:r>
            <a:r>
              <a:rPr lang="en-US" sz="13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đầy đủ trước khi bàn giao cho Kernel.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BeagleBone Black — Boot &amp; Build Flow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FULL 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Nút BOOT (switch) — chi tiết các chế độ chuyển đổi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một nút (switch) dùng để chuyển giữa các mode boot.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33956" y="2249424"/>
            <a:ext cx="749808" cy="7498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icons/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914" y="2414382"/>
            <a:ext cx="419892" cy="4198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nhấn giữ nút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" y="3721608"/>
            <a:ext cx="3063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3721608"/>
            <a:ext cx="2971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eMMC  →  microSD  →  Serial port  →  USB port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4672" y="4215384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sẽ cố boot từ eMMC. Nếu eMMC rỗng, thử lần lượt microSD, serial port, rồi USB port.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43400" y="196596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728716" y="2249424"/>
            <a:ext cx="749808" cy="7498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/home/claude/icons/u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674" y="2414382"/>
            <a:ext cx="419892" cy="4198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nút BOOT, không gắn thẻ microSD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4572000" y="3721608"/>
            <a:ext cx="306324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617720" y="3721608"/>
            <a:ext cx="2971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port  →  Serial port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99432" y="4215384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buộc chọn nguồn boot từ USB port. Nếu không tìm thấy gì ở USB client port, board sẽ đi qua serial port để download.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138160" y="196596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1E276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523476" y="2249424"/>
            <a:ext cx="749808" cy="74980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/home/claude/icons/sd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434" y="2414382"/>
            <a:ext cx="419892" cy="4198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66760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nút BOOT, có thẻ microSD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8366760" y="3721608"/>
            <a:ext cx="3063240" cy="420624"/>
          </a:xfrm>
          <a:prstGeom prst="roundRect">
            <a:avLst>
              <a:gd name="adj" fmla="val 13043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8412480" y="3721608"/>
            <a:ext cx="2971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microSD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394192" y="4215384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thẻ microSD gắn sẵn có một bootable image, board sẽ boot trực tiếp từ thẻ microSD.</a:t>
            </a:r>
            <a:endParaRPr lang="en-US" sz="1000" dirty="0"/>
          </a:p>
        </p:txBody>
      </p:sp>
      <p:pic>
        <p:nvPicPr>
          <p:cNvPr id="28" name="Image 3" descr="/home/claude/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12" y="5577840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BeagleBone Black — Boot &amp; Build Flow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Ý NGHĨA THÀNH PHẦN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Giai đoạn Bootloader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214114"/>
              </p:ext>
            </p:extLst>
          </p:nvPr>
        </p:nvGraphicFramePr>
        <p:xfrm>
          <a:off x="548640" y="1737360"/>
          <a:ext cx="11091672" cy="3931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Thành phần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File thường gặp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Ý nghĩa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 Code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sẵn trong AM3358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Chương trình bất biến của nhà sản xuất, chạy đầu tiên khi bật nguồn và tìm bootloader trên eMMC, microSD, USB hoặc UART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Khởi tạo tối thiểu clock, RAM DDR và phần cứng cần thiết để có thể </a:t>
                      </a:r>
                      <a:r>
                        <a:rPr lang="en-US" sz="1600" dirty="0" err="1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tải</a:t>
                      </a:r>
                      <a:r>
                        <a:rPr lang="en-US" sz="16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U-Boot đầy đủ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U-Boot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u-boot.img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Bootloader chính; chọn thiết bị boot, đọc biến môi trường, nạp Kernel và Device Tree vào RAM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BeagleBone Black — Boot &amp; Build Flow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Ý NGHĨA THÀNH PHẦN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Giai đoạn Runtime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099850"/>
              </p:ext>
            </p:extLst>
          </p:nvPr>
        </p:nvGraphicFramePr>
        <p:xfrm>
          <a:off x="548640" y="1600200"/>
          <a:ext cx="11091672" cy="45262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Thành phần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File thường gặp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Ý nghĩa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Kernel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zImage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CPU, RAM, tiến trình, driver và các tài nguyên phần cứng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Tree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am335x-boneblack.dtb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tả phần cứng của board cho Kernel: GPIO, UART, I²C, SPI, Ethernet, địa chỉ thiết bị, interrupt...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Filesystem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rootfs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Chứa thư viện, shell, lệnh Linux, cấu hình, dịch vụ và ứng dụng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hoàn chỉnh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.wic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Ảnh đĩa đã có bảng phân vùng, boot partition và root filesystem để ghi xuống microSD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BeagleBone Black — Boot &amp; Build Flow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DEVICE TREE &amp; YOCTO BSP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trò của Device Tree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514600"/>
            <a:ext cx="2103120" cy="21031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80" y="3040380"/>
            <a:ext cx="1051560" cy="1051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0" y="1993392"/>
            <a:ext cx="100584" cy="10058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0" y="182880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Giúp Kernel biết phần cứng nào tồn tại mà không cần hard-code toàn bộ thông tin riêng của từng board vào Kernel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840480" y="2935224"/>
            <a:ext cx="100584" cy="10058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0" y="2770632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có nhiệm vụ truyền file DTB cho Kernel trong lúc boot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840480" y="3877056"/>
            <a:ext cx="100584" cy="10058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0" y="3712464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chi tiết: GPIO, UART, I²C, SPI, Ethernet, địa chỉ thiết bị, interrupt...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114800" y="5074920"/>
            <a:ext cx="722376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43400" y="507492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am335x-boneblack.dtb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Device Tree Blob dùng cho BeagleBone Black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BeagleBone Black — Boot &amp; Build Flow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DEVICE TREE &amp; YOCTO BSP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Cấu hình BSP chính thức của Yocto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514600"/>
            <a:ext cx="2103120" cy="21031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cons/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80" y="3040380"/>
            <a:ext cx="1051560" cy="1051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0" y="1993392"/>
            <a:ext cx="100584" cy="10058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0" y="182880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đích (MACHINE) được gọi là beaglebone-yocto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840480" y="2935224"/>
            <a:ext cx="100584" cy="10058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0" y="2770632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ra: MLO, u-boot.img, zImage, các Device Tree, Root Filesystem và image dạng .wic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840480" y="3877056"/>
            <a:ext cx="100584" cy="10058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0" y="3712464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được build bằng cấu hình am335x_evm_defconfig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114800" y="5074920"/>
            <a:ext cx="722376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89120" y="5138928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 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"beaglebone-yocto"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389120" y="546811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Yocto Project Documentation — BSP Guide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BeagleBone Black — Boot &amp; Build Flow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BUILD FLOW VS BOOT 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luồng cần phân biệt trong slide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141B49"/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628900" y="2125980"/>
            <a:ext cx="1051560" cy="10515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790" y="2388870"/>
            <a:ext cx="525780" cy="5257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91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Flow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3749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tạo phần mềm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280160" y="4343400"/>
            <a:ext cx="374904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4526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 ra trên PC (build host)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37960" y="173736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481060" y="212598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icons/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950" y="2388870"/>
            <a:ext cx="525780" cy="5257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66560" y="3291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 Flow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766560" y="3749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 trình chạy trên kit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7132320" y="4343400"/>
            <a:ext cx="3749040" cy="0"/>
          </a:xfrm>
          <a:prstGeom prst="line">
            <a:avLst/>
          </a:prstGeom>
          <a:noFill/>
          <a:ln w="12700">
            <a:solidFill>
              <a:srgbClr val="F6C5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949440" y="4526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E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 ra trên BeagleBone Black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812384" y="351129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icons/arrow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4116" y="365302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BeagleBone Black — Boot &amp; Build Flow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BUILD FLOW VS BOOT 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Flow — quy trình tạo phần mềm (trên PC)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" y="19110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2376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74" dirty="0"/>
          </a:p>
        </p:txBody>
      </p:sp>
      <p:sp>
        <p:nvSpPr>
          <p:cNvPr id="7" name="Text 5"/>
          <p:cNvSpPr/>
          <p:nvPr/>
        </p:nvSpPr>
        <p:spPr>
          <a:xfrm>
            <a:off x="1151163" y="2253996"/>
            <a:ext cx="2512641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yêu cầu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rot="5400000">
            <a:off x="4096512" y="2350008"/>
            <a:ext cx="146304" cy="146304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17136" y="19110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17136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74" dirty="0"/>
          </a:p>
        </p:txBody>
      </p:sp>
      <p:sp>
        <p:nvSpPr>
          <p:cNvPr id="12" name="Text 10"/>
          <p:cNvSpPr/>
          <p:nvPr/>
        </p:nvSpPr>
        <p:spPr>
          <a:xfrm>
            <a:off x="4945923" y="2253996"/>
            <a:ext cx="2512641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build host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rot="5400000">
            <a:off x="7891272" y="2350008"/>
            <a:ext cx="146304" cy="146304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11896" y="19110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11896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74" dirty="0"/>
          </a:p>
        </p:txBody>
      </p:sp>
      <p:sp>
        <p:nvSpPr>
          <p:cNvPr id="17" name="Text 15"/>
          <p:cNvSpPr/>
          <p:nvPr/>
        </p:nvSpPr>
        <p:spPr>
          <a:xfrm>
            <a:off x="8740683" y="2253996"/>
            <a:ext cx="2512641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source code &amp; metadata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376" y="35112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376" y="3511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74" dirty="0"/>
          </a:p>
        </p:txBody>
      </p:sp>
      <p:sp>
        <p:nvSpPr>
          <p:cNvPr id="21" name="Text 19"/>
          <p:cNvSpPr/>
          <p:nvPr/>
        </p:nvSpPr>
        <p:spPr>
          <a:xfrm>
            <a:off x="1151163" y="3854196"/>
            <a:ext cx="2512641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BSP / MACHINE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rot="5400000">
            <a:off x="4096512" y="3950208"/>
            <a:ext cx="146304" cy="146304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43400" y="33375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17136" y="35112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17136" y="3511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74" dirty="0"/>
          </a:p>
        </p:txBody>
      </p:sp>
      <p:sp>
        <p:nvSpPr>
          <p:cNvPr id="26" name="Text 24"/>
          <p:cNvSpPr/>
          <p:nvPr/>
        </p:nvSpPr>
        <p:spPr>
          <a:xfrm>
            <a:off x="4945923" y="3854196"/>
            <a:ext cx="2512641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Kernel, U-Boot, RootFS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 rot="5400000">
            <a:off x="7891272" y="3950208"/>
            <a:ext cx="146304" cy="146304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38160" y="33375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311896" y="35112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11896" y="3511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74" dirty="0"/>
          </a:p>
        </p:txBody>
      </p:sp>
      <p:sp>
        <p:nvSpPr>
          <p:cNvPr id="31" name="Text 29"/>
          <p:cNvSpPr/>
          <p:nvPr/>
        </p:nvSpPr>
        <p:spPr>
          <a:xfrm>
            <a:off x="8740683" y="3854196"/>
            <a:ext cx="2512641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BitBake biên dịch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8640" y="49377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22376" y="51114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2376" y="51114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74" dirty="0"/>
          </a:p>
        </p:txBody>
      </p:sp>
      <p:sp>
        <p:nvSpPr>
          <p:cNvPr id="35" name="Text 33"/>
          <p:cNvSpPr/>
          <p:nvPr/>
        </p:nvSpPr>
        <p:spPr>
          <a:xfrm>
            <a:off x="1151163" y="5454396"/>
            <a:ext cx="2512641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image .wic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 rot="5400000">
            <a:off x="4096512" y="5550408"/>
            <a:ext cx="146304" cy="146304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343400" y="49377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17136" y="51114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17136" y="51114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74" dirty="0"/>
          </a:p>
        </p:txBody>
      </p:sp>
      <p:sp>
        <p:nvSpPr>
          <p:cNvPr id="40" name="Text 38"/>
          <p:cNvSpPr/>
          <p:nvPr/>
        </p:nvSpPr>
        <p:spPr>
          <a:xfrm>
            <a:off x="4945923" y="5454396"/>
            <a:ext cx="2512641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image xuống microSD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 rot="5400000">
            <a:off x="7891272" y="5550408"/>
            <a:ext cx="146304" cy="146304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38160" y="49377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311896" y="51114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311896" y="51114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74" dirty="0"/>
          </a:p>
        </p:txBody>
      </p:sp>
      <p:sp>
        <p:nvSpPr>
          <p:cNvPr id="45" name="Text 43"/>
          <p:cNvSpPr/>
          <p:nvPr/>
        </p:nvSpPr>
        <p:spPr>
          <a:xfrm>
            <a:off x="8740683" y="5454396"/>
            <a:ext cx="2512641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và kiểm thử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BeagleBone Black — Boot &amp; Build Flow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BUILD FLOW VS BOOT 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 Flow — quá trình chạy trên kit (BeagleBone Black)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" y="19110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2376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74" dirty="0"/>
          </a:p>
        </p:txBody>
      </p:sp>
      <p:sp>
        <p:nvSpPr>
          <p:cNvPr id="7" name="Text 5"/>
          <p:cNvSpPr/>
          <p:nvPr/>
        </p:nvSpPr>
        <p:spPr>
          <a:xfrm>
            <a:off x="1316736" y="2176272"/>
            <a:ext cx="239801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nguồn / Reset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rot="5400000">
            <a:off x="4096512" y="2350008"/>
            <a:ext cx="146304" cy="146304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17136" y="19110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17136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74" dirty="0"/>
          </a:p>
        </p:txBody>
      </p:sp>
      <p:sp>
        <p:nvSpPr>
          <p:cNvPr id="12" name="Text 10"/>
          <p:cNvSpPr/>
          <p:nvPr/>
        </p:nvSpPr>
        <p:spPr>
          <a:xfrm>
            <a:off x="5111496" y="2176272"/>
            <a:ext cx="239801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AM3358 ROM đọc boot pins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rot="5400000">
            <a:off x="7891272" y="2350008"/>
            <a:ext cx="146304" cy="146304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11896" y="19110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11896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74" dirty="0"/>
          </a:p>
        </p:txBody>
      </p:sp>
      <p:sp>
        <p:nvSpPr>
          <p:cNvPr id="17" name="Text 15"/>
          <p:cNvSpPr/>
          <p:nvPr/>
        </p:nvSpPr>
        <p:spPr>
          <a:xfrm>
            <a:off x="8906256" y="2176272"/>
            <a:ext cx="239801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MLO trên eMMC hoặc microSD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376" y="35112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376" y="3511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74" dirty="0"/>
          </a:p>
        </p:txBody>
      </p:sp>
      <p:sp>
        <p:nvSpPr>
          <p:cNvPr id="21" name="Text 19"/>
          <p:cNvSpPr/>
          <p:nvPr/>
        </p:nvSpPr>
        <p:spPr>
          <a:xfrm>
            <a:off x="1316736" y="3776472"/>
            <a:ext cx="239801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 khởi tạo DDR và tải U-Boot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rot="5400000">
            <a:off x="4096512" y="3950208"/>
            <a:ext cx="146304" cy="146304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43400" y="33375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17136" y="35112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17136" y="3511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74" dirty="0"/>
          </a:p>
        </p:txBody>
      </p:sp>
      <p:sp>
        <p:nvSpPr>
          <p:cNvPr id="26" name="Text 24"/>
          <p:cNvSpPr/>
          <p:nvPr/>
        </p:nvSpPr>
        <p:spPr>
          <a:xfrm>
            <a:off x="5111496" y="3776472"/>
            <a:ext cx="239801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tải zImage và DTB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 rot="5400000">
            <a:off x="7891272" y="3950208"/>
            <a:ext cx="146304" cy="146304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38160" y="33375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311896" y="35112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11896" y="3511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74" dirty="0"/>
          </a:p>
        </p:txBody>
      </p:sp>
      <p:sp>
        <p:nvSpPr>
          <p:cNvPr id="31" name="Text 29"/>
          <p:cNvSpPr/>
          <p:nvPr/>
        </p:nvSpPr>
        <p:spPr>
          <a:xfrm>
            <a:off x="8906256" y="3776472"/>
            <a:ext cx="239801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khởi tạo driver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8640" y="49377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22376" y="51114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2376" y="51114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74" dirty="0"/>
          </a:p>
        </p:txBody>
      </p:sp>
      <p:sp>
        <p:nvSpPr>
          <p:cNvPr id="35" name="Text 33"/>
          <p:cNvSpPr/>
          <p:nvPr/>
        </p:nvSpPr>
        <p:spPr>
          <a:xfrm>
            <a:off x="1316736" y="5376672"/>
            <a:ext cx="239801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mount root filesystem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 rot="5400000">
            <a:off x="4096512" y="5550408"/>
            <a:ext cx="146304" cy="146304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343400" y="49377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17136" y="51114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17136" y="51114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74" dirty="0"/>
          </a:p>
        </p:txBody>
      </p:sp>
      <p:sp>
        <p:nvSpPr>
          <p:cNvPr id="40" name="Text 38"/>
          <p:cNvSpPr/>
          <p:nvPr/>
        </p:nvSpPr>
        <p:spPr>
          <a:xfrm>
            <a:off x="5111496" y="5376672"/>
            <a:ext cx="239801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init/systemd khởi chạy dịch vụ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 rot="5400000">
            <a:off x="7891272" y="5550408"/>
            <a:ext cx="146304" cy="146304"/>
          </a:xfrm>
          <a:prstGeom prst="triangl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38160" y="49377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9F0FD"/>
          </a:solidFill>
          <a:ln/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311896" y="51114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311896" y="51114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74" dirty="0"/>
          </a:p>
        </p:txBody>
      </p:sp>
      <p:sp>
        <p:nvSpPr>
          <p:cNvPr id="45" name="Text 43"/>
          <p:cNvSpPr/>
          <p:nvPr/>
        </p:nvSpPr>
        <p:spPr>
          <a:xfrm>
            <a:off x="8906256" y="5376672"/>
            <a:ext cx="239801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màn hình login / chạy ứng dụng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BeagleBone Black — Boot &amp; Build Flow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LỰA CHỌN HỆ BUILD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Nên sử dụng hệ thống build nào?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20240" y="20802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22745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718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thủ công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riêng U-Boot, Kernel, Device Tree, RootFS rồi tự chia phân vùng. Học sâu nhưng mất thời gian và dễ sai.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  <a:effectLst>
            <a:outerShdw blurRad="76200" dist="25400" dir="27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0" y="20802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s/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22745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9718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Buildroot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47472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giản, thời gian build nhanh, phù hợp image nhỏ.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2700000" algn="bl" rotWithShape="0">
              <a:srgbClr val="1E2761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121140" y="15087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912114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KHUYẾN NGHỊ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9509760" y="2080260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4070" y="227457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9718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Yocto Project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58200" y="347472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Phức tạp hơn nhưng tái tạo được build, quản lý dependency, version, BSP, package và custom image tốt.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51663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9F0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822960" y="516636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với yêu cầu 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"full flow + giải thích ý nghĩa từng bước + doanh nghiệp"</a:t>
            </a: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khuyến nghị dùng </a:t>
            </a: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Yocto Project</a:t>
            </a: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làm luồng thực hành chính, sau đó giải thích các thành phần mà Yocto tự động build.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BeagleBone Black — Boot &amp; Build Flow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LỰA CHỌN HỆ BUILD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BitBake — bộ máy thực thi của Yocto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BitBake </a:t>
            </a:r>
            <a:r>
              <a:rPr lang="en-US" sz="16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metadata, giải quyết dependency và điều phối toàn bộ pipeline build — từ mã nguồn cho đến image cuối cùng.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5400000">
            <a:off x="2045208" y="3150108"/>
            <a:ext cx="146304" cy="146304"/>
          </a:xfrm>
          <a:prstGeom prst="triangl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25040" y="28346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25040" y="2834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unpack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3630168" y="3150108"/>
            <a:ext cx="146304" cy="146304"/>
          </a:xfrm>
          <a:prstGeom prst="triangl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10000" y="28346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10000" y="2834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5215128" y="3150108"/>
            <a:ext cx="146304" cy="146304"/>
          </a:xfrm>
          <a:prstGeom prst="triangl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94960" y="28346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94960" y="2834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5400000">
            <a:off x="6800088" y="3150108"/>
            <a:ext cx="146304" cy="146304"/>
          </a:xfrm>
          <a:prstGeom prst="triangl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79920" y="28346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79920" y="2834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5400000">
            <a:off x="8385048" y="3150108"/>
            <a:ext cx="146304" cy="146304"/>
          </a:xfrm>
          <a:prstGeom prst="triangl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64880" y="28346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64880" y="2834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5400000">
            <a:off x="9970008" y="3150108"/>
            <a:ext cx="146304" cy="146304"/>
          </a:xfrm>
          <a:prstGeom prst="triangl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149840" y="28346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149840" y="2834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E9F0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0120" y="46177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0" descr="/home/claude/icons/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4823460"/>
            <a:ext cx="502920" cy="5029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2148840" y="4343400"/>
            <a:ext cx="9052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</a:t>
            </a:r>
            <a:r>
              <a:rPr lang="en-US" sz="13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rootfs và image hoàn chỉnh (.wic) sẵn sàng ghi xuống microSD, thông qua các task tuần tự do BitBake điều phối trên toàn bộ metadata của layer/BSP.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BeagleBone Black — Boot &amp; Build Flow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điều cần nhớ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22376" y="1975104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2376" y="1975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74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Flow rõ ràng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233172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AM3358 ROM Code → SPL/MLO → U-Boot → Kernel + Device Tree → RootFS → init/systemd → Ứng dụng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2376" y="3145536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2376" y="31455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74" dirty="0"/>
          </a:p>
        </p:txBody>
      </p:sp>
      <p:sp>
        <p:nvSpPr>
          <p:cNvPr id="12" name="Text 10"/>
          <p:cNvSpPr/>
          <p:nvPr/>
        </p:nvSpPr>
        <p:spPr>
          <a:xfrm>
            <a:off x="1463040" y="313639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luồng tách biệt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63040" y="3502152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Flow diễn ra trên PC; Boot Flow diễn ra trên BeagleBone Black — không nhầm lẫn hai sơ đồ này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2376" y="431596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" y="4315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74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74" dirty="0"/>
          </a:p>
        </p:txBody>
      </p:sp>
      <p:sp>
        <p:nvSpPr>
          <p:cNvPr id="16" name="Text 14"/>
          <p:cNvSpPr/>
          <p:nvPr/>
        </p:nvSpPr>
        <p:spPr>
          <a:xfrm>
            <a:off x="1463040" y="430682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Yocto Project là lựa chọn khuyến nghị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467258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đích beaglebone-yocto, BitBake điều phối toàn bộ pipeline để tạo image .wic tái tạo được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1477</Words>
  <Application>Microsoft Office PowerPoint</Application>
  <PresentationFormat>Widescreen</PresentationFormat>
  <Paragraphs>247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pich OP</cp:lastModifiedBy>
  <cp:revision>2</cp:revision>
  <dcterms:created xsi:type="dcterms:W3CDTF">2026-08-02T13:09:21Z</dcterms:created>
  <dcterms:modified xsi:type="dcterms:W3CDTF">2026-08-02T14:14:09Z</dcterms:modified>
</cp:coreProperties>
</file>